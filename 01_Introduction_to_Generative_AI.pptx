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0" r:id="rId4"/>
    <p:sldMasterId id="2147483695" r:id="rId5"/>
    <p:sldMasterId id="2147483712" r:id="rId6"/>
    <p:sldMasterId id="2147483729" r:id="rId7"/>
  </p:sldMasterIdLst>
  <p:notesMasterIdLst>
    <p:notesMasterId r:id="rId20"/>
  </p:notesMasterIdLst>
  <p:sldIdLst>
    <p:sldId id="286" r:id="rId8"/>
    <p:sldId id="288" r:id="rId9"/>
    <p:sldId id="287" r:id="rId10"/>
    <p:sldId id="289" r:id="rId11"/>
    <p:sldId id="290" r:id="rId12"/>
    <p:sldId id="291" r:id="rId13"/>
    <p:sldId id="293" r:id="rId14"/>
    <p:sldId id="294" r:id="rId15"/>
    <p:sldId id="297" r:id="rId16"/>
    <p:sldId id="295" r:id="rId17"/>
    <p:sldId id="296" r:id="rId18"/>
    <p:sldId id="298" r:id="rId19"/>
  </p:sldIdLst>
  <p:sldSz cx="12192000" cy="6858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Light" panose="020B0306030504020204" pitchFamily="34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8C"/>
    <a:srgbClr val="00C8FF"/>
    <a:srgbClr val="00DCDC"/>
    <a:srgbClr val="FFB400"/>
    <a:srgbClr val="151F39"/>
    <a:srgbClr val="9AD1F0"/>
    <a:srgbClr val="FCAF17"/>
    <a:srgbClr val="D8B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78"/>
    <p:restoredTop sz="94709"/>
  </p:normalViewPr>
  <p:slideViewPr>
    <p:cSldViewPr snapToGrid="0" snapToObjects="1">
      <p:cViewPr varScale="1">
        <p:scale>
          <a:sx n="153" d="100"/>
          <a:sy n="153" d="100"/>
        </p:scale>
        <p:origin x="184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2" d="100"/>
          <a:sy n="92" d="100"/>
        </p:scale>
        <p:origin x="411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Krisztina" userId="eb97e639-f21d-4457-bc68-94dd9df947d6" providerId="ADAL" clId="{F0DA6441-E6CE-4184-ADBA-942571F57868}"/>
    <pc:docChg chg="custSel modSld modMainMaster">
      <pc:chgData name="Nagy Krisztina" userId="eb97e639-f21d-4457-bc68-94dd9df947d6" providerId="ADAL" clId="{F0DA6441-E6CE-4184-ADBA-942571F57868}" dt="2026-02-10T13:20:34.111" v="52" actId="20577"/>
      <pc:docMkLst>
        <pc:docMk/>
      </pc:docMkLst>
      <pc:sldChg chg="modSp mod">
        <pc:chgData name="Nagy Krisztina" userId="eb97e639-f21d-4457-bc68-94dd9df947d6" providerId="ADAL" clId="{F0DA6441-E6CE-4184-ADBA-942571F57868}" dt="2026-02-10T13:20:34.111" v="52" actId="20577"/>
        <pc:sldMkLst>
          <pc:docMk/>
          <pc:sldMk cId="4146789469" sldId="272"/>
        </pc:sldMkLst>
        <pc:spChg chg="mod">
          <ac:chgData name="Nagy Krisztina" userId="eb97e639-f21d-4457-bc68-94dd9df947d6" providerId="ADAL" clId="{F0DA6441-E6CE-4184-ADBA-942571F57868}" dt="2026-02-10T13:20:34.111" v="52" actId="20577"/>
          <ac:spMkLst>
            <pc:docMk/>
            <pc:sldMk cId="4146789469" sldId="272"/>
            <ac:spMk id="2" creationId="{243F047A-40B1-4E46-80BD-4C0081F891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1CC1C-E04F-5746-9273-0C628152FE6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3923D-B9BF-9F44-A2FF-065E37B8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57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34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094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DBF87-7255-594B-B8D5-7346664AC2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52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00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322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DE6A3-B10C-404C-BF18-0CEA514C730B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7C5F65-E688-C44D-B885-54F94A878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50DA09-5E37-6E42-89A9-4C14752908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8D02627-B6B2-DB44-915E-A33E4A4D2E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46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CDCE40-0EC3-1F4C-9FE1-6A8824F99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32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1771B3-2B9D-8048-B51F-9405C1A5D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351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58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44D521-68E2-C749-A9F2-60A3C260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C526D04-089F-244B-A268-711014C054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0808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836EB-766A-534F-BC98-A335FAD9B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F10F20-35A6-ED40-9E2D-1BA07143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11E014-B156-CD4D-B9F4-89FEC375B5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1049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F7A55-9880-3C43-B0CB-B0B25AAE0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151F3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410C58-1586-BA41-83F6-2A9D940C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2C0782F-43EC-1642-8533-41A1B4084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701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B78C12-7B56-EB47-8169-D4C23F005A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7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0979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59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96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70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6477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7C1BC3-E15F-D34B-BD28-F312B456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79759E2-B98B-5C46-9D45-1A01AB96D6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808779"/>
            <a:ext cx="10515600" cy="48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641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8747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0950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DE6A3-B10C-404C-BF18-0CEA514C730B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E7C5F65-E688-C44D-B885-54F94A878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50DA09-5E37-6E42-89A9-4C14752908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8D02627-B6B2-DB44-915E-A33E4A4D2E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0200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28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4802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4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E5F48-7E9E-3344-95A6-888280517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F70779-D3A3-3F42-B1A3-2A64CC15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DA728C8-7909-7349-AF65-927D93833B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5361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30408-977E-D047-99A9-EF2FB63037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151F3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723265-71EE-1044-933D-610CE9DD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E90D23-247A-EE46-8AC0-0876ABD703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1553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B594C-28EC-D24F-B2E5-3A157560B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B40FC90-3A93-CC4F-BDBD-612B4698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FCAAE3A-B1BE-E545-9E1E-1408EE6711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019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C5EAA2-9B6A-E64A-8911-60ED04B4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820C9-8081-0D4C-BC75-9F8EAD16AA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34595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9742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54432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146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1896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78507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70148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34599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3D028F-85E4-8C48-BB8B-072AE25016E1}"/>
              </a:ext>
            </a:extLst>
          </p:cNvPr>
          <p:cNvSpPr txBox="1">
            <a:spLocks/>
          </p:cNvSpPr>
          <p:nvPr userDrawn="1"/>
        </p:nvSpPr>
        <p:spPr>
          <a:xfrm>
            <a:off x="838200" y="3859451"/>
            <a:ext cx="10515600" cy="55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200" b="0" i="0" dirty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224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86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760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23443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40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95B7F-ECB4-6248-A0A2-F62D6AC5F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0207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234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14557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21542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474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3827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11820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34F64-341C-8C48-AB77-8A949DA1BBBA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7D5CDA5-3A53-5E46-A290-DF842A00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599F495-558F-9649-98B4-9F3CA9A8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E1DD68F-DA22-9C49-8064-CEC7C15FE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94948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464B05-4D02-4A4D-9267-0541C0FD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348" y="806583"/>
            <a:ext cx="5118370" cy="556101"/>
          </a:xfrm>
        </p:spPr>
        <p:txBody>
          <a:bodyPr>
            <a:normAutofit/>
          </a:bodyPr>
          <a:lstStyle>
            <a:lvl1pPr algn="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79333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4F8D7F-90CE-8F40-ABFC-EA424E71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950"/>
            <a:ext cx="10515600" cy="556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3D028F-85E4-8C48-BB8B-072AE25016E1}"/>
              </a:ext>
            </a:extLst>
          </p:cNvPr>
          <p:cNvSpPr txBox="1">
            <a:spLocks/>
          </p:cNvSpPr>
          <p:nvPr userDrawn="1"/>
        </p:nvSpPr>
        <p:spPr>
          <a:xfrm>
            <a:off x="838200" y="3859451"/>
            <a:ext cx="10515600" cy="55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200" b="0" i="0" dirty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247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35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D9936037-E322-B849-8DB6-B5BAADE0BF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48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091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9506" y="0"/>
            <a:ext cx="8602494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0F55F91-E516-2F42-AECB-A2C9794DB3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3058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77D0DC0-C86F-4C48-8D70-895CCE67EB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2663" y="0"/>
            <a:ext cx="3589337" cy="6858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146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3FE367-E037-BC42-88CF-F795B875B73A}"/>
              </a:ext>
            </a:extLst>
          </p:cNvPr>
          <p:cNvSpPr/>
          <p:nvPr userDrawn="1"/>
        </p:nvSpPr>
        <p:spPr>
          <a:xfrm>
            <a:off x="8602494" y="0"/>
            <a:ext cx="3589506" cy="6858000"/>
          </a:xfrm>
          <a:prstGeom prst="rect">
            <a:avLst/>
          </a:prstGeom>
          <a:solidFill>
            <a:srgbClr val="002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B67C13-785A-0946-98A3-B12917A2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2B184-CC21-C745-A6DA-72AAACC9E5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9797" y="2811145"/>
            <a:ext cx="2374900" cy="1235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69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172EDBD-51F8-B943-9EA9-8241793D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1780"/>
            <a:ext cx="4495800" cy="12344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038064-8CB6-2444-A59C-0493416AF9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BB0511D-F4E3-EB4D-9398-BC16C61CC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9048" cy="3429000"/>
          </a:xfrm>
          <a:prstGeom prst="rect">
            <a:avLst/>
          </a:pr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3082688-62D6-444E-B064-323A5DC8C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126959"/>
            <a:ext cx="4495800" cy="847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0" i="0">
                <a:solidFill>
                  <a:srgbClr val="151F39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5852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BE502-E6F3-4444-87C9-A65E26F2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28866-35B6-914A-B5A9-66E613168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4A01-0ECA-DD4F-A09C-3173A65A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74BC-6EDF-0944-8B3C-7AE6E807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86274-631A-A049-82B8-538E67B8221C}"/>
              </a:ext>
            </a:extLst>
          </p:cNvPr>
          <p:cNvSpPr/>
          <p:nvPr userDrawn="1"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377D49C4-A45D-644B-AD2B-6EAFFDE1B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6373383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C6DBA27-BAB5-D54C-A3FF-2FAC92323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5241" y="6373382"/>
            <a:ext cx="2281518" cy="2681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53D0B01-4F09-DE4A-B06A-AC8D639893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72282" y="6363519"/>
            <a:ext cx="2281518" cy="268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66385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EA8C6C6-6CC0-2949-B37A-1713BFD9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381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E61ECE-DD11-434A-BFC5-CC3EAAD56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7722"/>
            <a:ext cx="5157787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4E56921-ED46-5D4F-AA8E-D9DFBBDB5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381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091BFEA-2E6F-3C48-B971-A2D405292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67722"/>
            <a:ext cx="5183188" cy="252145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81633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43AB-7C91-2C44-A6E8-FB516DF3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6B77-3FC3-A04F-9C6A-B25B169093B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EA50-37C6-504C-8E89-23883020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E83E-2118-7D46-A2B7-564DD36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ACF1-2035-ED44-A2A6-3FD409EE1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4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8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Kép 6" descr="A képen szöveg, képernyőkép, Betűtípus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8CD4561-7A03-A2C0-7F18-EA73AA955B2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3" y="124152"/>
            <a:ext cx="2457468" cy="173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1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765" r:id="rId3"/>
    <p:sldLayoutId id="2147483684" r:id="rId4"/>
    <p:sldLayoutId id="2147483685" r:id="rId5"/>
    <p:sldLayoutId id="2147483686" r:id="rId6"/>
    <p:sldLayoutId id="2147483688" r:id="rId7"/>
    <p:sldLayoutId id="2147483689" r:id="rId8"/>
    <p:sldLayoutId id="2147483711" r:id="rId9"/>
    <p:sldLayoutId id="2147483690" r:id="rId10"/>
    <p:sldLayoutId id="2147483761" r:id="rId11"/>
    <p:sldLayoutId id="2147483746" r:id="rId12"/>
    <p:sldLayoutId id="2147483747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Kép 7" descr="A képen szöveg, képernyőkép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319AE43-8637-AE88-EDFC-09F9B4AD244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" y="126000"/>
            <a:ext cx="2457723" cy="17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6" r:id="rId3"/>
    <p:sldLayoutId id="2147483699" r:id="rId4"/>
    <p:sldLayoutId id="2147483700" r:id="rId5"/>
    <p:sldLayoutId id="2147483701" r:id="rId6"/>
    <p:sldLayoutId id="2147483704" r:id="rId7"/>
    <p:sldLayoutId id="2147483705" r:id="rId8"/>
    <p:sldLayoutId id="2147483760" r:id="rId9"/>
    <p:sldLayoutId id="2147483748" r:id="rId10"/>
    <p:sldLayoutId id="2147483749" r:id="rId11"/>
    <p:sldLayoutId id="2147483750" r:id="rId12"/>
    <p:sldLayoutId id="2147483706" r:id="rId13"/>
    <p:sldLayoutId id="2147483707" r:id="rId14"/>
    <p:sldLayoutId id="2147483708" r:id="rId15"/>
    <p:sldLayoutId id="214748370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151F3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Kép 8" descr="A képen szöveg, Betűtípus, Grafika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D5C5667-33E8-4338-70B1-4889882CD1F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1" y="537889"/>
            <a:ext cx="1638998" cy="63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20" r:id="rId5"/>
    <p:sldLayoutId id="2147483722" r:id="rId6"/>
    <p:sldLayoutId id="2147483723" r:id="rId7"/>
    <p:sldLayoutId id="2147483724" r:id="rId8"/>
    <p:sldLayoutId id="2147483759" r:id="rId9"/>
    <p:sldLayoutId id="2147483753" r:id="rId10"/>
    <p:sldLayoutId id="2147483725" r:id="rId11"/>
    <p:sldLayoutId id="2147483726" r:id="rId12"/>
    <p:sldLayoutId id="2147483727" r:id="rId13"/>
    <p:sldLayoutId id="214748372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8E1F3-57A4-974B-A247-1B459E35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9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Minta</a:t>
            </a:r>
            <a:r>
              <a:rPr lang="en-US" dirty="0"/>
              <a:t> </a:t>
            </a:r>
            <a:r>
              <a:rPr lang="hu-HU" dirty="0"/>
              <a:t>Cím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24C3-A5B2-274A-A455-F541304AF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6F46B77-3FC3-A04F-9C6A-B25B169093BF}" type="datetimeFigureOut">
              <a:rPr lang="en-US" smtClean="0"/>
              <a:pPr/>
              <a:t>2/16/26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0234-2A1C-6C42-9BEC-FE38847B0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95E1-C8FC-3144-845B-25603A5E2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151F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1E5ACF1-2035-ED44-A2A6-3FD409EE1DA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Kép 2" descr="A képen szöveg, képernyőkép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A31F9DF-A7F1-3D88-ADC0-6D1CCC4D6E8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" y="126000"/>
            <a:ext cx="2457723" cy="17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6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  <p:sldLayoutId id="2147483733" r:id="rId3"/>
    <p:sldLayoutId id="2147483734" r:id="rId4"/>
    <p:sldLayoutId id="2147483738" r:id="rId5"/>
    <p:sldLayoutId id="2147483739" r:id="rId6"/>
    <p:sldLayoutId id="2147483740" r:id="rId7"/>
    <p:sldLayoutId id="2147483741" r:id="rId8"/>
    <p:sldLayoutId id="2147483762" r:id="rId9"/>
    <p:sldLayoutId id="2147483756" r:id="rId10"/>
    <p:sldLayoutId id="2147483742" r:id="rId11"/>
    <p:sldLayoutId id="2147483743" r:id="rId12"/>
    <p:sldLayoutId id="2147483744" r:id="rId13"/>
    <p:sldLayoutId id="214748374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151F3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EB5F-D064-D747-9514-DAB589BE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01. Introduction to Generative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E2AAA-1B42-2D46-AD75-2389994F15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Szigeti Mark Bence</a:t>
            </a:r>
          </a:p>
        </p:txBody>
      </p:sp>
    </p:spTree>
    <p:extLst>
      <p:ext uri="{BB962C8B-B14F-4D97-AF65-F5344CB8AC3E}">
        <p14:creationId xmlns:p14="http://schemas.microsoft.com/office/powerpoint/2010/main" val="714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02AD-E815-DAF0-7AD9-C458098B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48EB89-6329-F4BA-05E6-0396E8CD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What is AI?</a:t>
            </a:r>
          </a:p>
        </p:txBody>
      </p:sp>
      <p:pic>
        <p:nvPicPr>
          <p:cNvPr id="5" name="Kép 4" descr="A képen Emberi arc, ember, ruházat, személ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E87CB58-49B9-0FD9-AF8D-8620F9C49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2" y="0"/>
            <a:ext cx="5861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83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4FE1D-E15D-A240-7A95-E691F872B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What is Generative AI?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32281FC-219F-5570-4C7E-6490420BD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Nowdays, it depends who you ask</a:t>
            </a:r>
          </a:p>
          <a:p>
            <a:pPr marL="1143000" lvl="1" indent="-457200"/>
            <a:r>
              <a:rPr lang="en-US" noProof="1"/>
              <a:t>Definition: “artificial intelligence designed to produce output, especially text or images, normally requiring human intelligence, typically by applying machine learning techniques to large collections of data.”</a:t>
            </a:r>
          </a:p>
        </p:txBody>
      </p:sp>
    </p:spTree>
    <p:extLst>
      <p:ext uri="{BB962C8B-B14F-4D97-AF65-F5344CB8AC3E}">
        <p14:creationId xmlns:p14="http://schemas.microsoft.com/office/powerpoint/2010/main" val="357636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A052E-8E79-59F3-3C82-211BA79E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2D7B98-7F53-777D-9BE7-4360D5D2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What is Generative AI?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0BB4D24-74F2-A8B6-607C-A75FD03685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noProof="1"/>
              <a:t>Nowdays, it depends who you ask</a:t>
            </a:r>
          </a:p>
          <a:p>
            <a:pPr marL="1143000" lvl="1" indent="-457200"/>
            <a:r>
              <a:rPr lang="en-US" noProof="1"/>
              <a:t>Definition: “artificial intelligence designed to produce output, especially text or images, normally requiring human intelligence, typically by applying machine learning techniques to large collections of data.”</a:t>
            </a:r>
          </a:p>
          <a:p>
            <a:pPr lvl="1" indent="0">
              <a:buNone/>
            </a:pPr>
            <a:endParaRPr lang="en-US" noProof="1"/>
          </a:p>
          <a:p>
            <a:pPr marL="1143000" lvl="1" indent="-457200"/>
            <a:r>
              <a:rPr lang="en-US" noProof="1"/>
              <a:t>Researcher: Transformer modell mostly</a:t>
            </a:r>
          </a:p>
          <a:p>
            <a:pPr marL="1143000" lvl="1" indent="-457200"/>
            <a:r>
              <a:rPr lang="en-US" noProof="1"/>
              <a:t>Coorporate developer: OpenAI/Claude/etc API endpoints</a:t>
            </a:r>
          </a:p>
          <a:p>
            <a:pPr marL="1143000" lvl="1" indent="-457200"/>
            <a:r>
              <a:rPr lang="en-US" noProof="1"/>
              <a:t>Marketing, sales: everything</a:t>
            </a:r>
          </a:p>
          <a:p>
            <a:pPr marL="1143000" lvl="1" indent="-457200"/>
            <a:r>
              <a:rPr lang="en-US" noProof="1"/>
              <a:t>IT Security: huge money in the future</a:t>
            </a:r>
          </a:p>
          <a:p>
            <a:pPr marL="1143000" lvl="1" indent="-457200"/>
            <a:r>
              <a:rPr lang="en-US" noProof="1"/>
              <a:t>Nontechnical people: Terminator, Chatgpt</a:t>
            </a:r>
          </a:p>
        </p:txBody>
      </p:sp>
    </p:spTree>
    <p:extLst>
      <p:ext uri="{BB962C8B-B14F-4D97-AF65-F5344CB8AC3E}">
        <p14:creationId xmlns:p14="http://schemas.microsoft.com/office/powerpoint/2010/main" val="9521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4CA59E-431C-A1A7-483C-167DBE9E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Generative AI</a:t>
            </a:r>
          </a:p>
        </p:txBody>
      </p:sp>
    </p:spTree>
    <p:extLst>
      <p:ext uri="{BB962C8B-B14F-4D97-AF65-F5344CB8AC3E}">
        <p14:creationId xmlns:p14="http://schemas.microsoft.com/office/powerpoint/2010/main" val="385598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7651-FC9A-2808-A72D-F528FA8C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35EF30-86C4-7E3F-7ED7-53F44174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Foundations (1900s–1950s)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08473E5-0584-8490-FD11-E71F48B0C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r>
              <a:rPr lang="en-US" noProof="1"/>
              <a:t>Markov Chains (1906) – Statistical sequence modeling</a:t>
            </a:r>
          </a:p>
          <a:p>
            <a:pPr lvl="1"/>
            <a:r>
              <a:rPr lang="en-US" noProof="1"/>
              <a:t>Alan Turing (1950) – Foundations of machine intelligence</a:t>
            </a:r>
          </a:p>
          <a:p>
            <a:pPr lvl="1"/>
            <a:r>
              <a:rPr lang="en-US" noProof="1"/>
              <a:t>Early computational theories of learning and logic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BFE8D55-57C5-6343-6278-BDBCABCFC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046" y="3061689"/>
            <a:ext cx="4381907" cy="330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1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16AF-64DA-6D71-038C-7EFEB917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55F47F-BC65-8391-B892-05813E35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Deep Learning (2012–2014)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CA0333F-CE07-73BE-15FE-48ACE3226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lvl="1"/>
            <a:r>
              <a:rPr lang="en-US" noProof="1"/>
              <a:t>Convolutional Neural Networks</a:t>
            </a:r>
          </a:p>
          <a:p>
            <a:pPr lvl="1"/>
            <a:r>
              <a:rPr lang="en-US" noProof="1"/>
              <a:t>GANs (2014) – Generative Adversarial Networks for image generation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4BC1CA5-5CFE-C1CA-B3BA-A0835685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49795"/>
            <a:ext cx="7772400" cy="43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5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099B-33B7-B1DD-E47E-AFE12DA9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E5508C-4062-E63A-BD08-76EF750E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Transformer Era (2017)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903B0E4-5B59-1EB0-8638-8966D4F28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r>
              <a:rPr lang="en-US" noProof="1"/>
              <a:t>'Attention Is All You Need' paper</a:t>
            </a:r>
          </a:p>
          <a:p>
            <a:pPr lvl="1"/>
            <a:r>
              <a:rPr lang="en-US" noProof="1"/>
              <a:t>Introduction of Transformer architecture</a:t>
            </a:r>
          </a:p>
          <a:p>
            <a:pPr lvl="1"/>
            <a:r>
              <a:rPr lang="en-US" noProof="1"/>
              <a:t>Foundation for modern large language models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6816BC8-FDF6-8C16-AFDA-49CF003D1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262" y="2828260"/>
            <a:ext cx="5163737" cy="40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4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6FF5-AC6E-E5D4-45F8-F4A44C28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9F0214-008E-FDD8-5516-349C3057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noProof="1"/>
              <a:t>Transformer Era (2017)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0138E2-FA43-086B-F43A-C35EC7670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r>
              <a:rPr lang="en-US" noProof="1"/>
              <a:t>'Attention Is All You Need' paper</a:t>
            </a:r>
          </a:p>
          <a:p>
            <a:pPr lvl="1"/>
            <a:r>
              <a:rPr lang="en-US" noProof="1"/>
              <a:t>Introduction of Transformer architecture</a:t>
            </a:r>
          </a:p>
          <a:p>
            <a:pPr lvl="1"/>
            <a:r>
              <a:rPr lang="en-US" noProof="1"/>
              <a:t>Foundation for modern large language models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CB96B59-4F5D-2B6F-8214-51E9F10E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914" y="1406106"/>
            <a:ext cx="3869086" cy="545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A3BC-C269-7875-2EE1-84C714C9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0C005C-BAAA-381C-351E-6C1E10F4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dirty="0"/>
              <a:t>Large Language Models (2018–????)</a:t>
            </a:r>
            <a:endParaRPr lang="en-US" noProof="1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4B1430-2CC1-D557-33A7-09D7160095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GPT-1 (2018) – Pretrained transformer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GPT-2 (2019) – Scaled coherent text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GPT-3 (2020) – 175B parameters, major leap in fluency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GPT-4, GPT-5, Claude, Gemini, </a:t>
            </a:r>
            <a:r>
              <a:rPr lang="en-US" dirty="0" err="1"/>
              <a:t>Deepseek</a:t>
            </a:r>
            <a:r>
              <a:rPr lang="en-US" dirty="0"/>
              <a:t>, ...........</a:t>
            </a:r>
          </a:p>
        </p:txBody>
      </p:sp>
    </p:spTree>
    <p:extLst>
      <p:ext uri="{BB962C8B-B14F-4D97-AF65-F5344CB8AC3E}">
        <p14:creationId xmlns:p14="http://schemas.microsoft.com/office/powerpoint/2010/main" val="417432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880C-9F65-E1FA-CE3A-05E53326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0F6A8D-351F-855D-F900-3187BC4D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dirty="0"/>
              <a:t>Multimodal &amp; Enterprise Expansion (2023–2024)</a:t>
            </a:r>
            <a:endParaRPr lang="en-US" noProof="1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83AE9C-E5AB-05D2-C4A0-D0B7FA264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r>
              <a:rPr lang="en-US" dirty="0"/>
              <a:t>Multimodal models (text, image, audio, video)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AEEAD9F-70BC-E4FD-69C0-78C669AD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01" y="2325922"/>
            <a:ext cx="7172997" cy="404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8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DCDE-6752-F142-391A-A04EFC4E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61E3A1-8270-2EF8-7D82-FB71E8B9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42" y="491706"/>
            <a:ext cx="8662357" cy="707366"/>
          </a:xfrm>
        </p:spPr>
        <p:txBody>
          <a:bodyPr/>
          <a:lstStyle/>
          <a:p>
            <a:r>
              <a:rPr lang="en-US" dirty="0"/>
              <a:t>Current Trends &amp; Future Directions (2025+)</a:t>
            </a:r>
            <a:endParaRPr lang="en-US" noProof="1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79A050B-4224-2AC4-A09E-63A3DB0A8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6106"/>
            <a:ext cx="10515600" cy="4960188"/>
          </a:xfrm>
        </p:spPr>
        <p:txBody>
          <a:bodyPr/>
          <a:lstStyle/>
          <a:p>
            <a:r>
              <a:rPr lang="en-US" dirty="0"/>
              <a:t>AI agents and autonomous systems</a:t>
            </a:r>
          </a:p>
          <a:p>
            <a:pPr lvl="1"/>
            <a:r>
              <a:rPr lang="en-US" dirty="0"/>
              <a:t>Video and 3D world generation</a:t>
            </a:r>
          </a:p>
          <a:p>
            <a:pPr lvl="1"/>
            <a:r>
              <a:rPr lang="en-US" dirty="0"/>
              <a:t>Regulation, ethics, and responsible AI development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7CBA792-FDC1-6F67-AB38-FAC618E95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2566"/>
            <a:ext cx="3710762" cy="371076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0DCAC88-0EA0-6FE4-0019-B88D1CAB1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523" y="2862566"/>
            <a:ext cx="6596910" cy="371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1852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NNG">
      <a:dk1>
        <a:srgbClr val="000000"/>
      </a:dk1>
      <a:lt1>
        <a:srgbClr val="FFFFFF"/>
      </a:lt1>
      <a:dk2>
        <a:srgbClr val="006EB6"/>
      </a:dk2>
      <a:lt2>
        <a:srgbClr val="E7E6E6"/>
      </a:lt2>
      <a:accent1>
        <a:srgbClr val="006CA9"/>
      </a:accent1>
      <a:accent2>
        <a:srgbClr val="009EE0"/>
      </a:accent2>
      <a:accent3>
        <a:srgbClr val="A5A5A5"/>
      </a:accent3>
      <a:accent4>
        <a:srgbClr val="00022A"/>
      </a:accent4>
      <a:accent5>
        <a:srgbClr val="D9D9D5"/>
      </a:accent5>
      <a:accent6>
        <a:srgbClr val="FF7548"/>
      </a:accent6>
      <a:hlink>
        <a:srgbClr val="009DDF"/>
      </a:hlink>
      <a:folHlink>
        <a:srgbClr val="006EB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5F3567EE0DE56949A5517E79BA193775" ma:contentTypeVersion="19" ma:contentTypeDescription="Új dokumentum létrehozása." ma:contentTypeScope="" ma:versionID="e5caa4d9870067fadadcc6959f9d4d8e">
  <xsd:schema xmlns:xsd="http://www.w3.org/2001/XMLSchema" xmlns:xs="http://www.w3.org/2001/XMLSchema" xmlns:p="http://schemas.microsoft.com/office/2006/metadata/properties" xmlns:ns2="6c09563d-6c12-4c6b-baa2-60c617706928" xmlns:ns3="35a8d79f-4988-4c51-8955-eb925c2104a2" targetNamespace="http://schemas.microsoft.com/office/2006/metadata/properties" ma:root="true" ma:fieldsID="d0806fea91b84b22b5414e2468aad222" ns2:_="" ns3:_="">
    <xsd:import namespace="6c09563d-6c12-4c6b-baa2-60c617706928"/>
    <xsd:import namespace="35a8d79f-4988-4c51-8955-eb925c2104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9563d-6c12-4c6b-baa2-60c6177069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Képcímkék" ma:readOnly="false" ma:fieldId="{5cf76f15-5ced-4ddc-b409-7134ff3c332f}" ma:taxonomyMulti="true" ma:sspId="81fdf5ea-129c-422e-b789-1a66b7cb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8d79f-4988-4c51-8955-eb925c2104a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597d382-80dd-4d76-a2dc-4f71130f2be8}" ma:internalName="TaxCatchAll" ma:showField="CatchAllData" ma:web="35a8d79f-4988-4c51-8955-eb925c2104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a8d79f-4988-4c51-8955-eb925c2104a2" xsi:nil="true"/>
    <lcf76f155ced4ddcb4097134ff3c332f xmlns="6c09563d-6c12-4c6b-baa2-60c6177069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F8B1C1-360C-48C8-8A90-BAB0385E57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30F34A-1874-4CEA-99BB-A867CD483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9563d-6c12-4c6b-baa2-60c617706928"/>
    <ds:schemaRef ds:uri="35a8d79f-4988-4c51-8955-eb925c2104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540F73-6BB7-4222-8388-D74A96C5E8E3}">
  <ds:schemaRefs>
    <ds:schemaRef ds:uri="http://schemas.microsoft.com/office/2006/metadata/properties"/>
    <ds:schemaRef ds:uri="http://schemas.microsoft.com/office/infopath/2007/PartnerControls"/>
    <ds:schemaRef ds:uri="35a8d79f-4988-4c51-8955-eb925c2104a2"/>
    <ds:schemaRef ds:uri="6c09563d-6c12-4c6b-baa2-60c6177069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324</Words>
  <Application>Microsoft Macintosh PowerPoint</Application>
  <PresentationFormat>Szélesvásznú</PresentationFormat>
  <Paragraphs>42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4</vt:i4>
      </vt:variant>
      <vt:variant>
        <vt:lpstr>Diacímek</vt:lpstr>
      </vt:variant>
      <vt:variant>
        <vt:i4>12</vt:i4>
      </vt:variant>
    </vt:vector>
  </HeadingPairs>
  <TitlesOfParts>
    <vt:vector size="20" baseType="lpstr">
      <vt:lpstr>Open Sans</vt:lpstr>
      <vt:lpstr>Open Sans Light</vt:lpstr>
      <vt:lpstr>Arial</vt:lpstr>
      <vt:lpstr>Calibri</vt:lpstr>
      <vt:lpstr>2_Office Theme</vt:lpstr>
      <vt:lpstr>3_Office Theme</vt:lpstr>
      <vt:lpstr>4_Office Theme</vt:lpstr>
      <vt:lpstr>5_Office Theme</vt:lpstr>
      <vt:lpstr>01. Introduction to Generative AI</vt:lpstr>
      <vt:lpstr>What is AI?</vt:lpstr>
      <vt:lpstr>What is Generative AI?</vt:lpstr>
      <vt:lpstr>What is Generative AI?</vt:lpstr>
      <vt:lpstr>Timeline of Generative AI</vt:lpstr>
      <vt:lpstr>Foundations (1900s–1950s)</vt:lpstr>
      <vt:lpstr>Deep Learning (2012–2014)</vt:lpstr>
      <vt:lpstr>Transformer Era (2017)</vt:lpstr>
      <vt:lpstr>Transformer Era (2017)</vt:lpstr>
      <vt:lpstr>Large Language Models (2018–????)</vt:lpstr>
      <vt:lpstr>Multimodal &amp; Enterprise Expansion (2023–2024)</vt:lpstr>
      <vt:lpstr>Current Trends &amp; Future Directions (2025+)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Mark Szigeti</cp:lastModifiedBy>
  <cp:revision>138</cp:revision>
  <cp:lastPrinted>2019-02-21T16:25:53Z</cp:lastPrinted>
  <dcterms:created xsi:type="dcterms:W3CDTF">2019-01-21T14:36:44Z</dcterms:created>
  <dcterms:modified xsi:type="dcterms:W3CDTF">2026-02-16T18:26:03Z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0x0101005F3567EE0DE56949A5517E79BA193775</vt:lpwstr>
  </property>
  <property fmtid="{D5CDD505-2E9C-101B-9397-08002B2CF9AE}" pid="3" name="MediaServiceImageTags">
    <vt:lpwstr/>
  </property>
</Properties>
</file>