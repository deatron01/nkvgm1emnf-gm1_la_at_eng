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0" r:id="rId4"/>
    <p:sldMasterId id="2147483695" r:id="rId5"/>
    <p:sldMasterId id="2147483712" r:id="rId6"/>
    <p:sldMasterId id="2147483729" r:id="rId7"/>
  </p:sldMasterIdLst>
  <p:notesMasterIdLst>
    <p:notesMasterId r:id="rId14"/>
  </p:notesMasterIdLst>
  <p:sldIdLst>
    <p:sldId id="286" r:id="rId8"/>
    <p:sldId id="290" r:id="rId9"/>
    <p:sldId id="287" r:id="rId10"/>
    <p:sldId id="288" r:id="rId11"/>
    <p:sldId id="289" r:id="rId12"/>
    <p:sldId id="291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8C"/>
    <a:srgbClr val="00C8FF"/>
    <a:srgbClr val="00DCDC"/>
    <a:srgbClr val="FFB400"/>
    <a:srgbClr val="151F39"/>
    <a:srgbClr val="9AD1F0"/>
    <a:srgbClr val="FCAF17"/>
    <a:srgbClr val="D8B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/>
    <p:restoredTop sz="94709"/>
  </p:normalViewPr>
  <p:slideViewPr>
    <p:cSldViewPr snapToGrid="0" snapToObjects="1">
      <p:cViewPr varScale="1">
        <p:scale>
          <a:sx n="148" d="100"/>
          <a:sy n="148" d="100"/>
        </p:scale>
        <p:origin x="208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2" d="100"/>
          <a:sy n="92" d="100"/>
        </p:scale>
        <p:origin x="411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Krisztina" userId="eb97e639-f21d-4457-bc68-94dd9df947d6" providerId="ADAL" clId="{F0DA6441-E6CE-4184-ADBA-942571F57868}"/>
    <pc:docChg chg="custSel modSld modMainMaster">
      <pc:chgData name="Nagy Krisztina" userId="eb97e639-f21d-4457-bc68-94dd9df947d6" providerId="ADAL" clId="{F0DA6441-E6CE-4184-ADBA-942571F57868}" dt="2026-02-10T13:20:34.111" v="52" actId="20577"/>
      <pc:docMkLst>
        <pc:docMk/>
      </pc:docMkLst>
      <pc:sldChg chg="modSp mod">
        <pc:chgData name="Nagy Krisztina" userId="eb97e639-f21d-4457-bc68-94dd9df947d6" providerId="ADAL" clId="{F0DA6441-E6CE-4184-ADBA-942571F57868}" dt="2026-02-10T13:20:34.111" v="52" actId="20577"/>
        <pc:sldMkLst>
          <pc:docMk/>
          <pc:sldMk cId="4146789469" sldId="272"/>
        </pc:sldMkLst>
        <pc:spChg chg="mod">
          <ac:chgData name="Nagy Krisztina" userId="eb97e639-f21d-4457-bc68-94dd9df947d6" providerId="ADAL" clId="{F0DA6441-E6CE-4184-ADBA-942571F57868}" dt="2026-02-10T13:20:34.111" v="52" actId="20577"/>
          <ac:spMkLst>
            <pc:docMk/>
            <pc:sldMk cId="4146789469" sldId="272"/>
            <ac:spMk id="2" creationId="{243F047A-40B1-4E46-80BD-4C0081F891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1CC1C-E04F-5746-9273-0C628152FE6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3923D-B9BF-9F44-A2FF-065E37B8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57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34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094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DBF87-7255-594B-B8D5-7346664AC2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52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00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322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DE6A3-B10C-404C-BF18-0CEA514C730B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7C5F65-E688-C44D-B885-54F94A878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50DA09-5E37-6E42-89A9-4C14752908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8D02627-B6B2-DB44-915E-A33E4A4D2E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46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CDCE40-0EC3-1F4C-9FE1-6A8824F99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32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1771B3-2B9D-8048-B51F-9405C1A5D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351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58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44D521-68E2-C749-A9F2-60A3C260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C526D04-089F-244B-A268-711014C054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0808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836EB-766A-534F-BC98-A335FAD9B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F10F20-35A6-ED40-9E2D-1BA07143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11E014-B156-CD4D-B9F4-89FEC375B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1049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F7A55-9880-3C43-B0CB-B0B25AAE0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151F3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410C58-1586-BA41-83F6-2A9D940C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2C0782F-43EC-1642-8533-41A1B4084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701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B78C12-7B56-EB47-8169-D4C23F005A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7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0979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59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96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70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6477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7C1BC3-E15F-D34B-BD28-F312B456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79759E2-B98B-5C46-9D45-1A01AB96D6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641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8747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0950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DE6A3-B10C-404C-BF18-0CEA514C730B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7C5F65-E688-C44D-B885-54F94A878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50DA09-5E37-6E42-89A9-4C14752908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8D02627-B6B2-DB44-915E-A33E4A4D2E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0200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28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4802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4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E5F48-7E9E-3344-95A6-888280517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F70779-D3A3-3F42-B1A3-2A64CC15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DA728C8-7909-7349-AF65-927D93833B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5361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30408-977E-D047-99A9-EF2FB63037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151F3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723265-71EE-1044-933D-610CE9DD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E90D23-247A-EE46-8AC0-0876ABD703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1553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B594C-28EC-D24F-B2E5-3A157560B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B40FC90-3A93-CC4F-BDBD-612B4698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FCAAE3A-B1BE-E545-9E1E-1408EE6711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019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C5EAA2-9B6A-E64A-8911-60ED04B4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820C9-8081-0D4C-BC75-9F8EAD16AA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34595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9742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54432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146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1896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78507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70148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34599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3D028F-85E4-8C48-BB8B-072AE25016E1}"/>
              </a:ext>
            </a:extLst>
          </p:cNvPr>
          <p:cNvSpPr txBox="1">
            <a:spLocks/>
          </p:cNvSpPr>
          <p:nvPr userDrawn="1"/>
        </p:nvSpPr>
        <p:spPr>
          <a:xfrm>
            <a:off x="838200" y="3859451"/>
            <a:ext cx="10515600" cy="55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200" b="0" i="0" dirty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224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86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760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23443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40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95B7F-ECB4-6248-A0A2-F62D6AC5F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0207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234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14557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21542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474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3827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11820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94948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79333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3D028F-85E4-8C48-BB8B-072AE25016E1}"/>
              </a:ext>
            </a:extLst>
          </p:cNvPr>
          <p:cNvSpPr txBox="1">
            <a:spLocks/>
          </p:cNvSpPr>
          <p:nvPr userDrawn="1"/>
        </p:nvSpPr>
        <p:spPr>
          <a:xfrm>
            <a:off x="838200" y="3859451"/>
            <a:ext cx="10515600" cy="55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200" b="0" i="0" dirty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247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35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091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3058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146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2B184-CC21-C745-A6DA-72AAACC9E5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69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3082688-62D6-444E-B064-323A5DC8C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5852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66385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EA8C6C6-6CC0-2949-B37A-1713BFD9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E61ECE-DD11-434A-BFC5-CC3EAAD56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4E56921-ED46-5D4F-AA8E-D9DFBBDB5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091BFEA-2E6F-3C48-B971-A2D405292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81633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4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8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Kép 6" descr="A képen szöveg, képernyőkép, Betűtípus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8CD4561-7A03-A2C0-7F18-EA73AA955B2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3" y="124152"/>
            <a:ext cx="2457468" cy="173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1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765" r:id="rId3"/>
    <p:sldLayoutId id="2147483684" r:id="rId4"/>
    <p:sldLayoutId id="2147483685" r:id="rId5"/>
    <p:sldLayoutId id="2147483686" r:id="rId6"/>
    <p:sldLayoutId id="2147483688" r:id="rId7"/>
    <p:sldLayoutId id="2147483689" r:id="rId8"/>
    <p:sldLayoutId id="2147483711" r:id="rId9"/>
    <p:sldLayoutId id="2147483690" r:id="rId10"/>
    <p:sldLayoutId id="2147483761" r:id="rId11"/>
    <p:sldLayoutId id="2147483746" r:id="rId12"/>
    <p:sldLayoutId id="2147483747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Kép 7" descr="A képen szöveg, képernyőkép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319AE43-8637-AE88-EDFC-09F9B4AD244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" y="126000"/>
            <a:ext cx="2457723" cy="17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6" r:id="rId3"/>
    <p:sldLayoutId id="2147483699" r:id="rId4"/>
    <p:sldLayoutId id="2147483700" r:id="rId5"/>
    <p:sldLayoutId id="2147483701" r:id="rId6"/>
    <p:sldLayoutId id="2147483704" r:id="rId7"/>
    <p:sldLayoutId id="2147483705" r:id="rId8"/>
    <p:sldLayoutId id="2147483760" r:id="rId9"/>
    <p:sldLayoutId id="2147483748" r:id="rId10"/>
    <p:sldLayoutId id="2147483749" r:id="rId11"/>
    <p:sldLayoutId id="2147483750" r:id="rId12"/>
    <p:sldLayoutId id="2147483706" r:id="rId13"/>
    <p:sldLayoutId id="2147483707" r:id="rId14"/>
    <p:sldLayoutId id="2147483708" r:id="rId15"/>
    <p:sldLayoutId id="214748370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151F3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Kép 8" descr="A képen szöveg, Betűtípus, Grafika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D5C5667-33E8-4338-70B1-4889882CD1F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1" y="537889"/>
            <a:ext cx="1638998" cy="63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20" r:id="rId5"/>
    <p:sldLayoutId id="2147483722" r:id="rId6"/>
    <p:sldLayoutId id="2147483723" r:id="rId7"/>
    <p:sldLayoutId id="2147483724" r:id="rId8"/>
    <p:sldLayoutId id="2147483759" r:id="rId9"/>
    <p:sldLayoutId id="2147483753" r:id="rId10"/>
    <p:sldLayoutId id="2147483725" r:id="rId11"/>
    <p:sldLayoutId id="2147483726" r:id="rId12"/>
    <p:sldLayoutId id="2147483727" r:id="rId13"/>
    <p:sldLayoutId id="214748372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Kép 2" descr="A képen szöveg, képernyőkép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A31F9DF-A7F1-3D88-ADC0-6D1CCC4D6E8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" y="126000"/>
            <a:ext cx="2457723" cy="17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6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  <p:sldLayoutId id="2147483733" r:id="rId3"/>
    <p:sldLayoutId id="2147483734" r:id="rId4"/>
    <p:sldLayoutId id="2147483738" r:id="rId5"/>
    <p:sldLayoutId id="2147483739" r:id="rId6"/>
    <p:sldLayoutId id="2147483740" r:id="rId7"/>
    <p:sldLayoutId id="2147483741" r:id="rId8"/>
    <p:sldLayoutId id="2147483762" r:id="rId9"/>
    <p:sldLayoutId id="2147483756" r:id="rId10"/>
    <p:sldLayoutId id="2147483742" r:id="rId11"/>
    <p:sldLayoutId id="2147483743" r:id="rId12"/>
    <p:sldLayoutId id="2147483744" r:id="rId13"/>
    <p:sldLayoutId id="214748374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151F3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EB5F-D064-D747-9514-DAB589BE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Artificial Intelligence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E2AAA-1B42-2D46-AD75-2389994F15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Szigeti Mark Bence</a:t>
            </a:r>
          </a:p>
        </p:txBody>
      </p:sp>
    </p:spTree>
    <p:extLst>
      <p:ext uri="{BB962C8B-B14F-4D97-AF65-F5344CB8AC3E}">
        <p14:creationId xmlns:p14="http://schemas.microsoft.com/office/powerpoint/2010/main" val="714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AE47-A412-105B-3EF3-04EDADE3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AB7EEC-4891-15C2-B983-BF036229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What is this course about?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4EC999B-2640-D546-A465-5879D349AC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This course is:</a:t>
            </a:r>
          </a:p>
          <a:p>
            <a:pPr marL="1143000" lvl="1" indent="-457200"/>
            <a:r>
              <a:rPr lang="en-US" noProof="1"/>
              <a:t>Practice focused = We will code a lot</a:t>
            </a:r>
          </a:p>
          <a:p>
            <a:pPr marL="1143000" lvl="1" indent="-457200"/>
            <a:r>
              <a:rPr lang="en-US" noProof="1"/>
              <a:t>Project driven = We will create practical applications during this course</a:t>
            </a:r>
          </a:p>
          <a:p>
            <a:pPr marL="1143000" lvl="1" indent="-457200"/>
            <a:r>
              <a:rPr lang="en-US" noProof="1"/>
              <a:t>System oriented = Our goal is to understand how to plan and create these systems for specific purpuses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This course is NOT:</a:t>
            </a:r>
          </a:p>
          <a:p>
            <a:pPr marL="1143000" lvl="1" indent="-457200"/>
            <a:r>
              <a:rPr lang="en-US" noProof="1"/>
              <a:t>Theory heavy = We will use many things without going into deep details (but I can provide that also on request)</a:t>
            </a:r>
          </a:p>
          <a:p>
            <a:pPr marL="1143000" lvl="1" indent="-457200"/>
            <a:r>
              <a:rPr lang="en-US" noProof="1"/>
              <a:t>Memoriation class = The AI field changes from week to week (if not faster) there is no reason to memorize specific models / frameworks, we should understand the logic and methods behind them</a:t>
            </a:r>
          </a:p>
          <a:p>
            <a:pPr marL="1143000" lvl="1" indent="-457200"/>
            <a:endParaRPr lang="en-US" noProof="1"/>
          </a:p>
          <a:p>
            <a:pPr marL="457200" indent="-457200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88949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4FE1D-E15D-A240-7A95-E691F872B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Requirements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32281FC-219F-5570-4C7E-6490420BD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2 project works during the semester</a:t>
            </a:r>
          </a:p>
          <a:p>
            <a:pPr marL="1143000" lvl="1" indent="-457200"/>
            <a:r>
              <a:rPr lang="en-US" noProof="1"/>
              <a:t>Project 1 presentation : 		2026.03.19. 		(5</a:t>
            </a:r>
            <a:r>
              <a:rPr lang="en-US" baseline="30000" noProof="1"/>
              <a:t>th</a:t>
            </a:r>
            <a:r>
              <a:rPr lang="en-US" noProof="1"/>
              <a:t> week)</a:t>
            </a:r>
          </a:p>
          <a:p>
            <a:pPr marL="1143000" lvl="1" indent="-457200"/>
            <a:r>
              <a:rPr lang="en-US" noProof="1"/>
              <a:t>Project 2 presentation : 		2026.05.14. 		(13</a:t>
            </a:r>
            <a:r>
              <a:rPr lang="en-US" baseline="30000" noProof="1"/>
              <a:t>th</a:t>
            </a:r>
            <a:r>
              <a:rPr lang="en-US" noProof="1"/>
              <a:t> week)</a:t>
            </a:r>
          </a:p>
          <a:p>
            <a:pPr marL="1143000" lvl="1" indent="-457200"/>
            <a:r>
              <a:rPr lang="en-US" noProof="1"/>
              <a:t>Replacament presentation : 	2026.05.21. 		(14</a:t>
            </a:r>
            <a:r>
              <a:rPr lang="en-US" baseline="30000" noProof="1"/>
              <a:t>th</a:t>
            </a:r>
            <a:r>
              <a:rPr lang="en-US" noProof="1"/>
              <a:t> week)</a:t>
            </a:r>
          </a:p>
          <a:p>
            <a:pPr marL="457200" indent="-457200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57636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22C4-9214-0488-B6D2-40DC135E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B2146F-E9F6-C3BC-3166-9E3708AE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Course structure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F39AC9D-D105-868B-A846-8D9B9390E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Tuesday 8.00 – 9.00 : consultation, Open QA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Tuesday 9.00 – 9.40 : Lecture part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Thursday 12.35 – 14.15 : Coding part</a:t>
            </a:r>
          </a:p>
        </p:txBody>
      </p:sp>
    </p:spTree>
    <p:extLst>
      <p:ext uri="{BB962C8B-B14F-4D97-AF65-F5344CB8AC3E}">
        <p14:creationId xmlns:p14="http://schemas.microsoft.com/office/powerpoint/2010/main" val="146043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9B7D-B792-67D8-2630-B0BB13D6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71397B-A954-D2FF-06D1-FDC97C5D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Project works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47F09C-0494-6C73-518F-E4A6CDE43A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Project 1- Image generation project</a:t>
            </a:r>
          </a:p>
          <a:p>
            <a:pPr marL="1143000" lvl="1" indent="-457200"/>
            <a:r>
              <a:rPr lang="en-US" noProof="1"/>
              <a:t>From 1</a:t>
            </a:r>
            <a:r>
              <a:rPr lang="en-US" baseline="30000" noProof="1"/>
              <a:t>st</a:t>
            </a:r>
            <a:r>
              <a:rPr lang="en-US" noProof="1"/>
              <a:t> week to 5</a:t>
            </a:r>
            <a:r>
              <a:rPr lang="en-US" baseline="30000" noProof="1"/>
              <a:t>th</a:t>
            </a:r>
            <a:r>
              <a:rPr lang="en-US" noProof="1"/>
              <a:t> week</a:t>
            </a:r>
          </a:p>
          <a:p>
            <a:pPr marL="1143000" lvl="1" indent="-457200"/>
            <a:r>
              <a:rPr lang="en-US" noProof="1"/>
              <a:t>Individual project</a:t>
            </a:r>
          </a:p>
          <a:p>
            <a:pPr marL="1143000" lvl="1" indent="-457200"/>
            <a:r>
              <a:rPr lang="en-US" noProof="1"/>
              <a:t>Preferably bring your own topics, but I can also give 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Project 2 – LLM-based project</a:t>
            </a:r>
          </a:p>
          <a:p>
            <a:pPr marL="1143000" lvl="1" indent="-457200"/>
            <a:r>
              <a:rPr lang="en-US" noProof="1"/>
              <a:t>From 6</a:t>
            </a:r>
            <a:r>
              <a:rPr lang="en-US" baseline="30000" noProof="1"/>
              <a:t>th</a:t>
            </a:r>
            <a:r>
              <a:rPr lang="en-US" noProof="1"/>
              <a:t> week to 13</a:t>
            </a:r>
            <a:r>
              <a:rPr lang="en-US" baseline="30000" noProof="1"/>
              <a:t>th</a:t>
            </a:r>
            <a:r>
              <a:rPr lang="en-US" noProof="1"/>
              <a:t> week</a:t>
            </a:r>
          </a:p>
          <a:p>
            <a:pPr marL="1143000" lvl="1" indent="-457200"/>
            <a:r>
              <a:rPr lang="en-US" noProof="1"/>
              <a:t>Group work (2-4 people / team)</a:t>
            </a:r>
          </a:p>
          <a:p>
            <a:pPr marL="1143000" lvl="1" indent="-457200"/>
            <a:r>
              <a:rPr lang="en-US" noProof="1"/>
              <a:t>Preferably bring your own topics, but I can also give one</a:t>
            </a:r>
          </a:p>
        </p:txBody>
      </p:sp>
    </p:spTree>
    <p:extLst>
      <p:ext uri="{BB962C8B-B14F-4D97-AF65-F5344CB8AC3E}">
        <p14:creationId xmlns:p14="http://schemas.microsoft.com/office/powerpoint/2010/main" val="307889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1DFC-E9C6-CB95-51A5-7E96C3D4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673243-7A6C-94DE-DAB5-BCEDBA36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Contacts, others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47851D-DF5B-19D9-2094-AF2468B7EF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Teams : Szigeti Mark Bence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Email : szigeti.mark.bence@uni-obuda.hu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Abut me:</a:t>
            </a:r>
          </a:p>
          <a:p>
            <a:pPr marL="1143000" lvl="1" indent="-457200"/>
            <a:r>
              <a:rPr lang="en-US" noProof="1"/>
              <a:t>5+ years of experience in industrial and medical AI system design and development</a:t>
            </a:r>
          </a:p>
          <a:p>
            <a:pPr marL="1143000" lvl="1" indent="-457200"/>
            <a:r>
              <a:rPr lang="en-US" noProof="1"/>
              <a:t>Currently doing PhD in Applied AI Development</a:t>
            </a:r>
          </a:p>
        </p:txBody>
      </p:sp>
    </p:spTree>
    <p:extLst>
      <p:ext uri="{BB962C8B-B14F-4D97-AF65-F5344CB8AC3E}">
        <p14:creationId xmlns:p14="http://schemas.microsoft.com/office/powerpoint/2010/main" val="385367518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NNG">
      <a:dk1>
        <a:srgbClr val="000000"/>
      </a:dk1>
      <a:lt1>
        <a:srgbClr val="FFFFFF"/>
      </a:lt1>
      <a:dk2>
        <a:srgbClr val="006EB6"/>
      </a:dk2>
      <a:lt2>
        <a:srgbClr val="E7E6E6"/>
      </a:lt2>
      <a:accent1>
        <a:srgbClr val="006CA9"/>
      </a:accent1>
      <a:accent2>
        <a:srgbClr val="009EE0"/>
      </a:accent2>
      <a:accent3>
        <a:srgbClr val="A5A5A5"/>
      </a:accent3>
      <a:accent4>
        <a:srgbClr val="00022A"/>
      </a:accent4>
      <a:accent5>
        <a:srgbClr val="D9D9D5"/>
      </a:accent5>
      <a:accent6>
        <a:srgbClr val="FF7548"/>
      </a:accent6>
      <a:hlink>
        <a:srgbClr val="009DDF"/>
      </a:hlink>
      <a:folHlink>
        <a:srgbClr val="006EB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a8d79f-4988-4c51-8955-eb925c2104a2" xsi:nil="true"/>
    <lcf76f155ced4ddcb4097134ff3c332f xmlns="6c09563d-6c12-4c6b-baa2-60c61770692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5F3567EE0DE56949A5517E79BA193775" ma:contentTypeVersion="19" ma:contentTypeDescription="Új dokumentum létrehozása." ma:contentTypeScope="" ma:versionID="e5caa4d9870067fadadcc6959f9d4d8e">
  <xsd:schema xmlns:xsd="http://www.w3.org/2001/XMLSchema" xmlns:xs="http://www.w3.org/2001/XMLSchema" xmlns:p="http://schemas.microsoft.com/office/2006/metadata/properties" xmlns:ns2="6c09563d-6c12-4c6b-baa2-60c617706928" xmlns:ns3="35a8d79f-4988-4c51-8955-eb925c2104a2" targetNamespace="http://schemas.microsoft.com/office/2006/metadata/properties" ma:root="true" ma:fieldsID="d0806fea91b84b22b5414e2468aad222" ns2:_="" ns3:_="">
    <xsd:import namespace="6c09563d-6c12-4c6b-baa2-60c617706928"/>
    <xsd:import namespace="35a8d79f-4988-4c51-8955-eb925c2104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9563d-6c12-4c6b-baa2-60c6177069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Képcímkék" ma:readOnly="false" ma:fieldId="{5cf76f15-5ced-4ddc-b409-7134ff3c332f}" ma:taxonomyMulti="true" ma:sspId="81fdf5ea-129c-422e-b789-1a66b7cb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8d79f-4988-4c51-8955-eb925c2104a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597d382-80dd-4d76-a2dc-4f71130f2be8}" ma:internalName="TaxCatchAll" ma:showField="CatchAllData" ma:web="35a8d79f-4988-4c51-8955-eb925c2104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540F73-6BB7-4222-8388-D74A96C5E8E3}">
  <ds:schemaRefs>
    <ds:schemaRef ds:uri="http://schemas.microsoft.com/office/2006/metadata/properties"/>
    <ds:schemaRef ds:uri="http://schemas.microsoft.com/office/infopath/2007/PartnerControls"/>
    <ds:schemaRef ds:uri="35a8d79f-4988-4c51-8955-eb925c2104a2"/>
    <ds:schemaRef ds:uri="6c09563d-6c12-4c6b-baa2-60c617706928"/>
  </ds:schemaRefs>
</ds:datastoreItem>
</file>

<file path=customXml/itemProps2.xml><?xml version="1.0" encoding="utf-8"?>
<ds:datastoreItem xmlns:ds="http://schemas.openxmlformats.org/officeDocument/2006/customXml" ds:itemID="{E8F8B1C1-360C-48C8-8A90-BAB0385E57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30F34A-1874-4CEA-99BB-A867CD483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9563d-6c12-4c6b-baa2-60c617706928"/>
    <ds:schemaRef ds:uri="35a8d79f-4988-4c51-8955-eb925c2104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290</Words>
  <Application>Microsoft Macintosh PowerPoint</Application>
  <PresentationFormat>Szélesvásznú</PresentationFormat>
  <Paragraphs>34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4</vt:i4>
      </vt:variant>
      <vt:variant>
        <vt:lpstr>Diacímek</vt:lpstr>
      </vt:variant>
      <vt:variant>
        <vt:i4>6</vt:i4>
      </vt:variant>
    </vt:vector>
  </HeadingPairs>
  <TitlesOfParts>
    <vt:vector size="14" baseType="lpstr">
      <vt:lpstr>Open Sans</vt:lpstr>
      <vt:lpstr>Arial</vt:lpstr>
      <vt:lpstr>Open Sans Light</vt:lpstr>
      <vt:lpstr>Calibri</vt:lpstr>
      <vt:lpstr>2_Office Theme</vt:lpstr>
      <vt:lpstr>3_Office Theme</vt:lpstr>
      <vt:lpstr>4_Office Theme</vt:lpstr>
      <vt:lpstr>5_Office Theme</vt:lpstr>
      <vt:lpstr>Generative Artificial Intelligence </vt:lpstr>
      <vt:lpstr>What is this course about?</vt:lpstr>
      <vt:lpstr>Requirements</vt:lpstr>
      <vt:lpstr>Course structure</vt:lpstr>
      <vt:lpstr>Project works</vt:lpstr>
      <vt:lpstr>Contacts, 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Mark Szigeti</cp:lastModifiedBy>
  <cp:revision>119</cp:revision>
  <cp:lastPrinted>2019-02-21T16:25:53Z</cp:lastPrinted>
  <dcterms:created xsi:type="dcterms:W3CDTF">2019-01-21T14:36:44Z</dcterms:created>
  <dcterms:modified xsi:type="dcterms:W3CDTF">2026-02-10T15:34:30Z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0x0101005F3567EE0DE56949A5517E79BA193775</vt:lpwstr>
  </property>
  <property fmtid="{D5CDD505-2E9C-101B-9397-08002B2CF9AE}" pid="3" name="MediaServiceImageTags">
    <vt:lpwstr/>
  </property>
</Properties>
</file>